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12" r:id="rId4"/>
  </p:sldMasterIdLst>
  <p:notesMasterIdLst>
    <p:notesMasterId r:id="rId17"/>
  </p:notesMasterIdLst>
  <p:sldIdLst>
    <p:sldId id="256" r:id="rId5"/>
    <p:sldId id="2146847054" r:id="rId6"/>
    <p:sldId id="262" r:id="rId7"/>
    <p:sldId id="263" r:id="rId8"/>
    <p:sldId id="265" r:id="rId9"/>
    <p:sldId id="266" r:id="rId10"/>
    <p:sldId id="267" r:id="rId11"/>
    <p:sldId id="268" r:id="rId12"/>
    <p:sldId id="2146847055" r:id="rId13"/>
    <p:sldId id="269" r:id="rId14"/>
    <p:sldId id="2146847056" r:id="rId15"/>
    <p:sldId id="259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2BA97"/>
    <a:srgbClr val="8E6C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875C88D-F449-4813-893D-316985C55D72}" v="2" dt="2026-09-03T09:49:17.37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85BE263C-DBD7-4A20-BB59-AAB30ACAA65A}" styleName="Medium Style 3 - 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EB9631B5-78F2-41C9-869B-9F39066F8104}" styleName="Medium Style 3 - 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/>
    <p:restoredTop sz="94404" autoAdjust="0"/>
  </p:normalViewPr>
  <p:slideViewPr>
    <p:cSldViewPr snapToGrid="0">
      <p:cViewPr varScale="1">
        <p:scale>
          <a:sx n="74" d="100"/>
          <a:sy n="74" d="100"/>
        </p:scale>
        <p:origin x="352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presProps" Target="presProps.xml"/><Relationship Id="rId3" Type="http://schemas.openxmlformats.org/officeDocument/2006/relationships/customXml" Target="../customXml/item3.xml"/><Relationship Id="rId21" Type="http://schemas.openxmlformats.org/officeDocument/2006/relationships/tableStyles" Target="tableStyle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notesMaster" Target="notesMasters/notesMaster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microsoft.com/office/2015/10/relationships/revisionInfo" Target="revisionInfo.xml"/><Relationship Id="rId10" Type="http://schemas.openxmlformats.org/officeDocument/2006/relationships/slide" Target="slides/slide6.xml"/><Relationship Id="rId19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eepanshi Agarwal" userId="fbc790784cff5139" providerId="LiveId" clId="{7859F273-1FCB-4476-B9A5-84394077A6E5}"/>
    <pc:docChg chg="modSld">
      <pc:chgData name="Deepanshi Agarwal" userId="fbc790784cff5139" providerId="LiveId" clId="{7859F273-1FCB-4476-B9A5-84394077A6E5}" dt="2026-09-03T09:49:17.372" v="3" actId="20577"/>
      <pc:docMkLst>
        <pc:docMk/>
      </pc:docMkLst>
      <pc:sldChg chg="modSp mod">
        <pc:chgData name="Deepanshi Agarwal" userId="fbc790784cff5139" providerId="LiveId" clId="{7859F273-1FCB-4476-B9A5-84394077A6E5}" dt="2026-09-03T09:49:17.372" v="3" actId="20577"/>
        <pc:sldMkLst>
          <pc:docMk/>
          <pc:sldMk cId="258852918" sldId="2146847056"/>
        </pc:sldMkLst>
        <pc:spChg chg="mod">
          <ac:chgData name="Deepanshi Agarwal" userId="fbc790784cff5139" providerId="LiveId" clId="{7859F273-1FCB-4476-B9A5-84394077A6E5}" dt="2026-09-03T09:49:17.372" v="3" actId="20577"/>
          <ac:spMkLst>
            <pc:docMk/>
            <pc:sldMk cId="258852918" sldId="2146847056"/>
            <ac:spMk id="3" creationId="{618C47C2-EF01-12B0-99EA-861F9629D1D9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6256A78-79A6-408F-8148-4F87BB81602D}" type="datetimeFigureOut">
              <a:rPr lang="en-IN" smtClean="0"/>
              <a:t>03-09-2026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7E254F1-4415-47BF-9E91-C5D4B9A3335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380084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446534" y="3085764"/>
            <a:ext cx="11298932" cy="3338149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  <a:effectLst/>
        </p:spPr>
        <p:txBody>
          <a:bodyPr anchor="b">
            <a:normAutofit/>
          </a:bodyPr>
          <a:lstStyle>
            <a:lvl1pPr>
              <a:defRPr sz="36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81194" y="2495445"/>
            <a:ext cx="10993546" cy="590321"/>
          </a:xfrm>
        </p:spPr>
        <p:txBody>
          <a:bodyPr anchor="t">
            <a:normAutofit/>
          </a:bodyPr>
          <a:lstStyle>
            <a:lvl1pPr marL="0" indent="0" algn="l">
              <a:buNone/>
              <a:defRPr sz="1600" cap="all">
                <a:solidFill>
                  <a:schemeClr val="accent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7FA0ACE7-29A8-47D3-A7D9-257B711D80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91B17-9318-49DB-B28B-6E5994AE9581}" type="datetime1">
              <a:rPr lang="en-US" smtClean="0"/>
              <a:t>9/3/2026</a:t>
            </a:fld>
            <a:endParaRPr 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DEC604B9-52E9-4810-8359-47206518D0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81192" y="6423914"/>
            <a:ext cx="691721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5898A89F-CA25-400F-B05A-AECBF2517E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00175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530296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1192" y="1302026"/>
            <a:ext cx="11029615" cy="467332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770E6237-3456-439F-802D-3BA93FC7E3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DD82B9-B8EE-4375-B6FF-88FA6ABB15D9}" type="datetime1">
              <a:rPr lang="en-US" smtClean="0"/>
              <a:t>9/3/2026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24434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2393950"/>
            <a:ext cx="11029615" cy="2147467"/>
          </a:xfrm>
        </p:spPr>
        <p:txBody>
          <a:bodyPr anchor="b">
            <a:normAutofit/>
          </a:bodyPr>
          <a:lstStyle>
            <a:lvl1pPr algn="l">
              <a:defRPr sz="3600" b="0" cap="all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4541417"/>
            <a:ext cx="11029615" cy="600556"/>
          </a:xfrm>
        </p:spPr>
        <p:txBody>
          <a:bodyPr anchor="t">
            <a:normAutofit/>
          </a:bodyPr>
          <a:lstStyle>
            <a:lvl1pPr marL="0" indent="0" algn="l">
              <a:buNone/>
              <a:defRPr sz="1800" cap="all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1582016-5696-4A93-887F-BBB3B9002F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497495-0637-405E-AE64-5CC7506D51F5}" type="datetime1">
              <a:rPr lang="en-US" smtClean="0"/>
              <a:t>9/3/2026</a:t>
            </a:fld>
            <a:endParaRPr 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57CFCD5-1192-4E18-8A8F-29E153B44D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81192" y="6423914"/>
            <a:ext cx="691721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E39A109E-5018-4794-92B3-FD5E5BCD95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6809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49285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81193" y="1391479"/>
            <a:ext cx="5194767" cy="4469572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16039" y="1391479"/>
            <a:ext cx="5194769" cy="4469572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FFD690-9426-415D-8B65-26881E07B2D4}" type="datetime1">
              <a:rPr lang="en-US" smtClean="0"/>
              <a:t>9/3/2026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81192" y="6423914"/>
            <a:ext cx="691721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33232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1" y="2250891"/>
            <a:ext cx="5194769" cy="557784"/>
          </a:xfrm>
        </p:spPr>
        <p:txBody>
          <a:bodyPr anchor="ctr">
            <a:noAutofit/>
          </a:bodyPr>
          <a:lstStyle>
            <a:lvl1pPr marL="0" indent="0">
              <a:buNone/>
              <a:defRPr sz="20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1194" y="2926052"/>
            <a:ext cx="5194766" cy="2934999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16039" y="2250892"/>
            <a:ext cx="5194770" cy="553373"/>
          </a:xfrm>
        </p:spPr>
        <p:txBody>
          <a:bodyPr anchor="ctr">
            <a:noAutofit/>
          </a:bodyPr>
          <a:lstStyle>
            <a:lvl1pPr marL="0" marR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None/>
              <a:tabLst/>
              <a:defRPr sz="20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None/>
              <a:tabLst/>
              <a:defRPr/>
            </a:pPr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416037" y="2926052"/>
            <a:ext cx="5194771" cy="2934999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C4989A-474C-40DE-95B9-011C28B71673}" type="datetime1">
              <a:rPr lang="en-US" smtClean="0"/>
              <a:t>9/3/2026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81192" y="6423914"/>
            <a:ext cx="691721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80465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575894" y="729658"/>
            <a:ext cx="11029616" cy="592246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B4ED54-5B5E-4A04-93D3-5772E3CE3818}" type="datetime1">
              <a:rPr lang="en-US" smtClean="0"/>
              <a:t>9/3/2026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81192" y="6423914"/>
            <a:ext cx="691721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9363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DE50D6-574B-40AF-946F-D52A04ADE379}" type="datetime1">
              <a:rPr lang="en-US" smtClean="0"/>
              <a:t>9/3/2026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81192" y="6423914"/>
            <a:ext cx="691721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94949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spect="1"/>
          </p:cNvSpPr>
          <p:nvPr/>
        </p:nvSpPr>
        <p:spPr>
          <a:xfrm>
            <a:off x="447817" y="601200"/>
            <a:ext cx="3682723" cy="5815475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7857" y="933450"/>
            <a:ext cx="3031852" cy="1722419"/>
          </a:xfrm>
        </p:spPr>
        <p:txBody>
          <a:bodyPr anchor="b">
            <a:normAutofit/>
          </a:bodyPr>
          <a:lstStyle>
            <a:lvl1pPr algn="l">
              <a:defRPr sz="24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900928" y="1179829"/>
            <a:ext cx="6650991" cy="4658216"/>
          </a:xfrm>
        </p:spPr>
        <p:txBody>
          <a:bodyPr anchor="ctr">
            <a:normAutofit/>
          </a:bodyPr>
          <a:lstStyle>
            <a:lvl1pPr>
              <a:defRPr sz="2000">
                <a:solidFill>
                  <a:schemeClr val="tx2"/>
                </a:solidFill>
              </a:defRPr>
            </a:lvl1pPr>
            <a:lvl2pPr>
              <a:defRPr sz="18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400">
                <a:solidFill>
                  <a:schemeClr val="tx2"/>
                </a:solidFill>
              </a:defRPr>
            </a:lvl4pPr>
            <a:lvl5pPr>
              <a:defRPr sz="1400">
                <a:solidFill>
                  <a:schemeClr val="tx2"/>
                </a:solidFill>
              </a:defRPr>
            </a:lvl5pPr>
            <a:lvl6pPr>
              <a:defRPr sz="1400">
                <a:solidFill>
                  <a:schemeClr val="tx2"/>
                </a:solidFill>
              </a:defRPr>
            </a:lvl6pPr>
            <a:lvl7pPr>
              <a:defRPr sz="1400">
                <a:solidFill>
                  <a:schemeClr val="tx2"/>
                </a:solidFill>
              </a:defRPr>
            </a:lvl7pPr>
            <a:lvl8pPr>
              <a:defRPr sz="1400">
                <a:solidFill>
                  <a:schemeClr val="tx2"/>
                </a:solidFill>
              </a:defRPr>
            </a:lvl8pPr>
            <a:lvl9pPr>
              <a:defRPr sz="1400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67857" y="2836654"/>
            <a:ext cx="3031852" cy="3001392"/>
          </a:xfrm>
        </p:spPr>
        <p:txBody>
          <a:bodyPr anchor="t">
            <a:normAutofit/>
          </a:bodyPr>
          <a:lstStyle>
            <a:lvl1pPr marL="0" indent="0" algn="l">
              <a:buNone/>
              <a:defRPr sz="1600">
                <a:solidFill>
                  <a:srgbClr val="FFFFFF"/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0B919CC2-2A65-446F-B538-9E624903544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05951" y="6456916"/>
            <a:ext cx="2844799" cy="365125"/>
          </a:xfrm>
        </p:spPr>
        <p:txBody>
          <a:bodyPr/>
          <a:lstStyle/>
          <a:p>
            <a:fld id="{D82884F1-FFEA-405F-9602-3DCA865EDA4E}" type="datetime1">
              <a:rPr lang="en-US" smtClean="0"/>
              <a:t>9/3/2026</a:t>
            </a:fld>
            <a:endParaRPr lang="en-US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B72412AE-119E-4982-8B24-63365EFCA7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81192" y="6452590"/>
            <a:ext cx="691721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7FC4BB19-6AD1-45CF-9F99-00B109890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58300" y="6456916"/>
            <a:ext cx="1052510" cy="365125"/>
          </a:xfrm>
        </p:spPr>
        <p:txBody>
          <a:bodyPr/>
          <a:lstStyle/>
          <a:p>
            <a:fld id="{3A98EE3D-8CD1-4C3F-BD1C-C98C9596463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17666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4693389"/>
            <a:ext cx="11029616" cy="566738"/>
          </a:xfrm>
        </p:spPr>
        <p:txBody>
          <a:bodyPr anchor="b">
            <a:normAutofit/>
          </a:bodyPr>
          <a:lstStyle>
            <a:lvl1pPr algn="l">
              <a:defRPr sz="24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47817" y="641350"/>
            <a:ext cx="11290859" cy="3651249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81192" y="5260127"/>
            <a:ext cx="11029617" cy="998148"/>
          </a:xfrm>
        </p:spPr>
        <p:txBody>
          <a:bodyPr anchor="t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8DB4A-8810-4A10-AD5C-D5E2C667F5B3}" type="datetime1">
              <a:rPr lang="en-US" smtClean="0"/>
              <a:t>9/3/2026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81192" y="6423914"/>
            <a:ext cx="6917210" cy="365125"/>
          </a:xfrm>
          <a:prstGeom prst="rect">
            <a:avLst/>
          </a:prstGeom>
        </p:spPr>
        <p:txBody>
          <a:bodyPr/>
          <a:lstStyle/>
          <a:p>
            <a:pPr algn="l"/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32895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ED4963-E985-44C4-B8C4-FDD613B7C2F8}" type="datetime1">
              <a:rPr lang="en-US" smtClean="0"/>
              <a:t>9/3/2026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81192" y="6423914"/>
            <a:ext cx="691721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359114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8058151" y="599725"/>
            <a:ext cx="3687316" cy="5816950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204200" y="863600"/>
            <a:ext cx="3124200" cy="4807326"/>
          </a:xfrm>
        </p:spPr>
        <p:txBody>
          <a:bodyPr vert="eaVert" anchor="ctr"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74923" y="863600"/>
            <a:ext cx="7161625" cy="4807326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6423B97-A5D4-47B9-8861-73B3707A04CF}"/>
              </a:ext>
            </a:extLst>
          </p:cNvPr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AEC0421-37B4-4481-A10D-69FDF5EC7909}"/>
              </a:ext>
            </a:extLst>
          </p:cNvPr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F7265B5-9F97-4F1E-99E9-74F7B7E62337}"/>
              </a:ext>
            </a:extLst>
          </p:cNvPr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1" name="Date Placeholder 10">
            <a:extLst>
              <a:ext uri="{FF2B5EF4-FFF2-40B4-BE49-F238E27FC236}">
                <a16:creationId xmlns:a16="http://schemas.microsoft.com/office/drawing/2014/main" id="{5C74A470-3BD3-4F33-80E5-67E6E87FCB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91B17-9318-49DB-B28B-6E5994AE9581}" type="datetime1">
              <a:rPr lang="en-US" smtClean="0"/>
              <a:t>9/3/2026</a:t>
            </a:fld>
            <a:endParaRPr lang="en-US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9A3A30BA-DB50-4D7D-BCDE-17D20FB354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81192" y="6423914"/>
            <a:ext cx="691721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76FF9E58-C0B2-436B-A21C-DB45A00D65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88496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81192" y="705124"/>
            <a:ext cx="11029616" cy="557146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1415198"/>
            <a:ext cx="11029616" cy="457285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05951" y="6423914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ED291B17-9318-49DB-B28B-6E5994AE9581}" type="datetime1">
              <a:rPr lang="en-US" smtClean="0"/>
              <a:t>9/3/2026</a:t>
            </a:fld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58300" y="6423914"/>
            <a:ext cx="10525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3A98EE3D-8CD1-4C3F-BD1C-C98C9596463C}" type="slidenum">
              <a:rPr lang="en-US" smtClean="0"/>
              <a:t>‹#›</a:t>
            </a:fld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8" name="Picture 7" descr="Logo&#10;&#10;Description automatically generated">
            <a:extLst>
              <a:ext uri="{FF2B5EF4-FFF2-40B4-BE49-F238E27FC236}">
                <a16:creationId xmlns:a16="http://schemas.microsoft.com/office/drawing/2014/main" id="{14A64E4D-8DED-7830-2955-1BE78C5B0655}"/>
              </a:ext>
            </a:extLst>
          </p:cNvPr>
          <p:cNvPicPr>
            <a:picLocks noChangeAspect="1"/>
          </p:cNvPicPr>
          <p:nvPr userDrawn="1"/>
        </p:nvPicPr>
        <p:blipFill>
          <a:blip r:embed="rId13"/>
          <a:stretch>
            <a:fillRect/>
          </a:stretch>
        </p:blipFill>
        <p:spPr>
          <a:xfrm>
            <a:off x="10485003" y="6437910"/>
            <a:ext cx="1125805" cy="3651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08978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6" r:id="rId1"/>
    <p:sldLayoutId id="2147483757" r:id="rId2"/>
    <p:sldLayoutId id="2147483758" r:id="rId3"/>
    <p:sldLayoutId id="2147483759" r:id="rId4"/>
    <p:sldLayoutId id="2147483711" r:id="rId5"/>
    <p:sldLayoutId id="2147483760" r:id="rId6"/>
    <p:sldLayoutId id="2147483762" r:id="rId7"/>
    <p:sldLayoutId id="2147483706" r:id="rId8"/>
    <p:sldLayoutId id="2147483709" r:id="rId9"/>
    <p:sldLayoutId id="2147483707" r:id="rId10"/>
    <p:sldLayoutId id="2147483708" r:id="rId11"/>
  </p:sldLayoutIdLst>
  <p:hf sldNum="0" hdr="0" ftr="0" dt="0"/>
  <p:txStyles>
    <p:titleStyle>
      <a:lvl1pPr algn="l" defTabSz="457200" rtl="0" eaLnBrk="1" latinLnBrk="0" hangingPunct="1">
        <a:lnSpc>
          <a:spcPct val="100000"/>
        </a:lnSpc>
        <a:spcBef>
          <a:spcPct val="0"/>
        </a:spcBef>
        <a:buNone/>
        <a:defRPr sz="2800" b="0" kern="1200" cap="all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06000" indent="-306000" algn="l" defTabSz="457200" rtl="0" eaLnBrk="1" latinLnBrk="0" hangingPunct="1">
        <a:lnSpc>
          <a:spcPct val="110000"/>
        </a:lnSpc>
        <a:spcBef>
          <a:spcPct val="20000"/>
        </a:spcBef>
        <a:spcAft>
          <a:spcPts val="60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7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630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90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3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24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1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160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1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9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6pPr>
      <a:lvl7pPr marL="2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7pPr>
      <a:lvl8pPr marL="25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8pPr>
      <a:lvl9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python.org/3/library/index.html" TargetMode="External"/><Relationship Id="rId2" Type="http://schemas.openxmlformats.org/officeDocument/2006/relationships/hyperlink" Target="https://github.com/" TargetMode="Externa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ai-flash-card-generator-lhtjv4ubq7cah8mrv4yqlj.streamlit.app/" TargetMode="External"/><Relationship Id="rId2" Type="http://schemas.openxmlformats.org/officeDocument/2006/relationships/hyperlink" Target="https://github.com/deepanshiagarwal580/AI-Flash-Card-Generator.git" TargetMode="Externa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A11E26-4C38-41A6-9857-11032CEECD8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84987" y="1973990"/>
            <a:ext cx="9144000" cy="977778"/>
          </a:xfrm>
        </p:spPr>
        <p:txBody>
          <a:bodyPr>
            <a:normAutofit fontScale="90000"/>
          </a:bodyPr>
          <a:lstStyle/>
          <a:p>
            <a:pPr algn="ctr"/>
            <a:r>
              <a:rPr lang="en-IN" b="1" dirty="0"/>
              <a:t>FLASHFORGE AI~</a:t>
            </a:r>
            <a:br>
              <a:rPr lang="en-IN" dirty="0"/>
            </a:br>
            <a:r>
              <a:rPr lang="en-IN" b="1" dirty="0"/>
              <a:t>An Intelligent Generative AI-Powered Flashcard Generator</a:t>
            </a:r>
            <a:endParaRPr lang="en-US" b="1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-267324" y="732396"/>
            <a:ext cx="12726648" cy="58477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en-US" sz="3200" b="1" i="1" u="sng" dirty="0">
                <a:solidFill>
                  <a:schemeClr val="accent1">
                    <a:lumMod val="75000"/>
                  </a:schemeClr>
                </a:solidFill>
                <a:latin typeface="Arial"/>
                <a:cs typeface="Arial"/>
              </a:rPr>
              <a:t>CAPSTONE PROJECT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686209" y="3983870"/>
            <a:ext cx="7980183" cy="1631216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US" sz="2000" b="1" dirty="0">
                <a:solidFill>
                  <a:schemeClr val="accent1">
                    <a:lumMod val="75000"/>
                  </a:schemeClr>
                </a:solidFill>
                <a:latin typeface="Arial" pitchFamily="34" charset="0"/>
                <a:cs typeface="Arial" pitchFamily="34" charset="0"/>
              </a:rPr>
              <a:t>Presented By:</a:t>
            </a:r>
          </a:p>
          <a:p>
            <a:pPr marL="457200" indent="-457200">
              <a:buAutoNum type="arabicPeriod"/>
            </a:pPr>
            <a:r>
              <a:rPr lang="en-US" sz="2000" b="1" dirty="0">
                <a:solidFill>
                  <a:schemeClr val="accent1">
                    <a:lumMod val="75000"/>
                  </a:schemeClr>
                </a:solidFill>
                <a:latin typeface="Arial"/>
                <a:cs typeface="Arial"/>
              </a:rPr>
              <a:t>Student Name- DEEPANSHI AGARWAL</a:t>
            </a:r>
          </a:p>
          <a:p>
            <a:pPr marL="457200" indent="-457200">
              <a:buAutoNum type="arabicPeriod"/>
            </a:pPr>
            <a:r>
              <a:rPr lang="en-US" sz="2000" b="1" dirty="0">
                <a:solidFill>
                  <a:schemeClr val="accent1">
                    <a:lumMod val="75000"/>
                  </a:schemeClr>
                </a:solidFill>
                <a:latin typeface="Arial"/>
                <a:cs typeface="Arial"/>
              </a:rPr>
              <a:t>College Name- MANIPAL UNIVERSITY, JAIPUR</a:t>
            </a:r>
          </a:p>
          <a:p>
            <a:pPr marL="457200" indent="-457200">
              <a:buAutoNum type="arabicPeriod"/>
            </a:pPr>
            <a:r>
              <a:rPr lang="en-US" sz="2000" b="1" dirty="0">
                <a:solidFill>
                  <a:schemeClr val="accent1">
                    <a:lumMod val="75000"/>
                  </a:schemeClr>
                </a:solidFill>
                <a:latin typeface="Arial"/>
                <a:cs typeface="Arial"/>
              </a:rPr>
              <a:t>Department - BBA</a:t>
            </a:r>
          </a:p>
          <a:p>
            <a:r>
              <a:rPr lang="en-US" sz="2000" b="1" dirty="0">
                <a:solidFill>
                  <a:schemeClr val="accent1">
                    <a:lumMod val="75000"/>
                  </a:schemeClr>
                </a:solidFill>
                <a:latin typeface="Arial"/>
                <a:cs typeface="Arial"/>
              </a:rPr>
              <a:t>4.   AICTE ID- STU6a68a895919291785243797</a:t>
            </a:r>
          </a:p>
        </p:txBody>
      </p:sp>
    </p:spTree>
    <p:extLst>
      <p:ext uri="{BB962C8B-B14F-4D97-AF65-F5344CB8AC3E}">
        <p14:creationId xmlns:p14="http://schemas.microsoft.com/office/powerpoint/2010/main" val="95332558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FFEB4C-F209-4AE7-AA2B-B3C26CE2C5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9573" y="558468"/>
            <a:ext cx="10515600" cy="1325563"/>
          </a:xfrm>
        </p:spPr>
        <p:txBody>
          <a:bodyPr/>
          <a:lstStyle/>
          <a:p>
            <a:r>
              <a:rPr lang="en-US" b="1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678641-EEA3-4EC4-BF39-4075B0C120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18938"/>
            <a:ext cx="11019020" cy="5239062"/>
          </a:xfrm>
        </p:spPr>
        <p:txBody>
          <a:bodyPr vert="horz" lIns="91440" tIns="45720" rIns="91440" bIns="45720" rtlCol="0" anchor="t">
            <a:noAutofit/>
          </a:bodyPr>
          <a:lstStyle/>
          <a:p>
            <a:pPr marL="0" indent="0">
              <a:buNone/>
            </a:pPr>
            <a:r>
              <a:rPr lang="en-US" sz="2000" b="1">
                <a:latin typeface="Arial"/>
                <a:ea typeface="+mn-lt"/>
                <a:cs typeface="Arial"/>
              </a:rPr>
              <a:t>  </a:t>
            </a:r>
            <a:endParaRPr lang="en-US">
              <a:latin typeface="Arial"/>
              <a:cs typeface="Arial"/>
            </a:endParaRPr>
          </a:p>
          <a:p>
            <a:r>
              <a:rPr lang="en-US" sz="2000" b="1">
                <a:latin typeface="Arial"/>
                <a:ea typeface="+mn-lt"/>
                <a:cs typeface="Arial"/>
              </a:rPr>
              <a:t>Problem Statement </a:t>
            </a:r>
            <a:r>
              <a:rPr lang="en-US" sz="2000">
                <a:latin typeface="Arial"/>
                <a:ea typeface="+mn-lt"/>
                <a:cs typeface="Arial"/>
              </a:rPr>
              <a:t>(Should not include solution)</a:t>
            </a:r>
            <a:endParaRPr lang="en-US">
              <a:latin typeface="Arial"/>
              <a:cs typeface="Arial"/>
            </a:endParaRPr>
          </a:p>
          <a:p>
            <a:r>
              <a:rPr lang="en-US" sz="2000" b="1">
                <a:latin typeface="Arial"/>
                <a:ea typeface="+mn-lt"/>
                <a:cs typeface="Arial"/>
              </a:rPr>
              <a:t>Proposed System/Solution</a:t>
            </a:r>
            <a:endParaRPr lang="en-US">
              <a:latin typeface="Arial"/>
              <a:cs typeface="Arial"/>
            </a:endParaRPr>
          </a:p>
          <a:p>
            <a:r>
              <a:rPr lang="en-US" sz="2000" b="1">
                <a:latin typeface="Arial"/>
                <a:ea typeface="+mn-lt"/>
                <a:cs typeface="Calibri"/>
              </a:rPr>
              <a:t>System </a:t>
            </a:r>
            <a:r>
              <a:rPr lang="en-US" sz="2000" b="1">
                <a:latin typeface="Arial"/>
                <a:ea typeface="+mn-lt"/>
                <a:cs typeface="+mn-lt"/>
              </a:rPr>
              <a:t>Development Approach </a:t>
            </a:r>
            <a:r>
              <a:rPr lang="en-US" sz="2000">
                <a:latin typeface="Arial"/>
                <a:ea typeface="+mn-lt"/>
                <a:cs typeface="+mn-lt"/>
              </a:rPr>
              <a:t>(Technology Used) </a:t>
            </a:r>
            <a:endParaRPr lang="en-US">
              <a:latin typeface="Arial"/>
              <a:ea typeface="+mn-lt"/>
              <a:cs typeface="+mn-lt"/>
            </a:endParaRPr>
          </a:p>
          <a:p>
            <a:r>
              <a:rPr lang="en-US" sz="2000" b="1">
                <a:latin typeface="Arial"/>
                <a:ea typeface="+mn-lt"/>
                <a:cs typeface="+mn-lt"/>
              </a:rPr>
              <a:t>Algorithm &amp; Deployment  </a:t>
            </a:r>
            <a:endParaRPr lang="en-US">
              <a:latin typeface="Arial"/>
              <a:cs typeface="Calibri"/>
            </a:endParaRPr>
          </a:p>
          <a:p>
            <a:r>
              <a:rPr lang="en-US" sz="2000" b="1">
                <a:latin typeface="Arial"/>
                <a:ea typeface="+mn-lt"/>
                <a:cs typeface="Arial"/>
              </a:rPr>
              <a:t>Result</a:t>
            </a:r>
          </a:p>
          <a:p>
            <a:r>
              <a:rPr lang="en-US" sz="2000" b="1">
                <a:latin typeface="Arial"/>
                <a:ea typeface="+mn-lt"/>
                <a:cs typeface="Arial"/>
              </a:rPr>
              <a:t>Conclusion</a:t>
            </a:r>
            <a:endParaRPr lang="en-US">
              <a:latin typeface="Arial"/>
              <a:cs typeface="Arial"/>
            </a:endParaRPr>
          </a:p>
          <a:p>
            <a:r>
              <a:rPr lang="en-US" sz="2000" b="1">
                <a:latin typeface="Arial"/>
                <a:ea typeface="+mn-lt"/>
                <a:cs typeface="Arial"/>
              </a:rPr>
              <a:t>Future Scope</a:t>
            </a:r>
          </a:p>
          <a:p>
            <a:r>
              <a:rPr lang="en-US" sz="2000" b="1">
                <a:latin typeface="Arial"/>
                <a:ea typeface="+mn-lt"/>
                <a:cs typeface="Arial"/>
              </a:rPr>
              <a:t>References</a:t>
            </a:r>
            <a:endParaRPr lang="en-US">
              <a:latin typeface="Arial"/>
              <a:cs typeface="Arial"/>
            </a:endParaRPr>
          </a:p>
          <a:p>
            <a:endParaRPr lang="en-US"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90015371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8FBA75B4-2DD5-42EB-9397-F36BFB8BA7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sz="4400" b="1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Problem Statement</a:t>
            </a:r>
            <a:endParaRPr lang="en-US" sz="4400"/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FEE4A9C-3F57-7DA7-91FD-715C3FB47F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0691" y="1482520"/>
            <a:ext cx="11029615" cy="4673324"/>
          </a:xfrm>
        </p:spPr>
        <p:txBody>
          <a:bodyPr/>
          <a:lstStyle/>
          <a:p>
            <a:r>
              <a:rPr lang="en-IN" sz="3200" dirty="0"/>
              <a:t>Students often spend a significant amount of time creating revision notes and flashcards manually from lengthy study material. Converting large amounts of text into concise questions and answers can be time-consuming and repetitive. Students may also find it difficult to identify the most important concepts from their notes for effective revision.</a:t>
            </a:r>
          </a:p>
          <a:p>
            <a:r>
              <a:rPr lang="en-IN" b="1" dirty="0"/>
              <a:t>Problem:</a:t>
            </a:r>
            <a:br>
              <a:rPr lang="en-IN" dirty="0"/>
            </a:br>
            <a:r>
              <a:rPr lang="en-IN" dirty="0"/>
              <a:t>There is a need for a simple and efficient way to convert study material into useful flashcards for quick revision.</a:t>
            </a:r>
          </a:p>
          <a:p>
            <a:pPr marL="0" indent="0">
              <a:buNone/>
            </a:pP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1864211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8FBA75B4-2DD5-42EB-9397-F36BFB8BA7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sz="4400" b="1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Proposed Solution</a:t>
            </a:r>
            <a:endParaRPr lang="en-US" sz="4400"/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041FD9D-DF07-9C37-1E61-1D920E0EF1D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1671" y="1087378"/>
            <a:ext cx="11613485" cy="6264398"/>
          </a:xfrm>
        </p:spPr>
        <p:txBody>
          <a:bodyPr vert="horz" lIns="91440" tIns="45720" rIns="91440" bIns="45720" rtlCol="0" anchor="ctr">
            <a:noAutofit/>
          </a:bodyPr>
          <a:lstStyle/>
          <a:p>
            <a:pPr marL="0" indent="0">
              <a:buNone/>
            </a:pPr>
            <a:r>
              <a:rPr lang="en-IN" sz="1800" b="1" i="1" dirty="0"/>
              <a:t>The proposed system uses Generative AI to automatically create flashcards from user-provided notes or study material:-</a:t>
            </a:r>
          </a:p>
          <a:p>
            <a:r>
              <a:rPr lang="en-IN" sz="1800" b="1" dirty="0"/>
              <a:t>Key components:</a:t>
            </a:r>
            <a:endParaRPr lang="en-IN" sz="1800" dirty="0"/>
          </a:p>
          <a:p>
            <a:r>
              <a:rPr lang="en-IN" sz="1800" b="1" dirty="0"/>
              <a:t>1. User Input</a:t>
            </a:r>
            <a:br>
              <a:rPr lang="en-IN" sz="1800" dirty="0"/>
            </a:br>
            <a:r>
              <a:rPr lang="en-IN" sz="1800" dirty="0"/>
              <a:t>The user enters notes or study material into the application.</a:t>
            </a:r>
          </a:p>
          <a:p>
            <a:r>
              <a:rPr lang="en-IN" sz="1800" b="1" dirty="0"/>
              <a:t>2. Prompt Generation</a:t>
            </a:r>
            <a:br>
              <a:rPr lang="en-IN" sz="1800" dirty="0"/>
            </a:br>
            <a:r>
              <a:rPr lang="en-IN" sz="1800" dirty="0"/>
              <a:t>The Python program converts the user's notes into a structured prompt requesting questions and answers.</a:t>
            </a:r>
          </a:p>
          <a:p>
            <a:r>
              <a:rPr lang="en-IN" sz="1800" b="1" dirty="0"/>
              <a:t>3. AI Generation</a:t>
            </a:r>
            <a:br>
              <a:rPr lang="en-IN" sz="1800" dirty="0"/>
            </a:br>
            <a:r>
              <a:rPr lang="en-IN" sz="1800" dirty="0"/>
              <a:t>Google Gemini processes the prompt and generates relevant flashcards.</a:t>
            </a:r>
          </a:p>
          <a:p>
            <a:r>
              <a:rPr lang="en-IN" sz="1800" b="1" dirty="0"/>
              <a:t>4. Output Display</a:t>
            </a:r>
            <a:br>
              <a:rPr lang="en-IN" sz="1800" dirty="0"/>
            </a:br>
            <a:r>
              <a:rPr lang="en-IN" sz="1800" dirty="0"/>
              <a:t>The generated questions and answers are displayed through a </a:t>
            </a:r>
            <a:r>
              <a:rPr lang="en-IN" sz="1800" dirty="0" err="1"/>
              <a:t>Streamlit</a:t>
            </a:r>
            <a:r>
              <a:rPr lang="en-IN" sz="1800" dirty="0"/>
              <a:t> interface.</a:t>
            </a:r>
          </a:p>
          <a:p>
            <a:r>
              <a:rPr lang="en-IN" sz="1800" b="1" dirty="0"/>
              <a:t>5. User Interaction</a:t>
            </a:r>
            <a:br>
              <a:rPr lang="en-IN" sz="1800" dirty="0"/>
            </a:br>
            <a:r>
              <a:rPr lang="en-IN" sz="1800" dirty="0"/>
              <a:t>The user can enter different topics and generate flashcards for revision.</a:t>
            </a:r>
          </a:p>
          <a:p>
            <a:pPr marL="305435" indent="-305435"/>
            <a:endParaRPr lang="en-IN" sz="1800" b="1" dirty="0">
              <a:latin typeface="Calibri"/>
              <a:cs typeface="Calibri"/>
            </a:endParaRPr>
          </a:p>
          <a:p>
            <a:pPr marL="0" indent="0">
              <a:buNone/>
            </a:pP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1035848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8FBA75B4-2DD5-42EB-9397-F36BFB8BA7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2" y="662572"/>
            <a:ext cx="11029616" cy="530296"/>
          </a:xfrm>
        </p:spPr>
        <p:txBody>
          <a:bodyPr>
            <a:normAutofit fontScale="90000"/>
          </a:bodyPr>
          <a:lstStyle/>
          <a:p>
            <a:r>
              <a:rPr lang="en-US" sz="4400" b="1" dirty="0">
                <a:solidFill>
                  <a:schemeClr val="accent1"/>
                </a:solidFill>
                <a:latin typeface="Arial"/>
                <a:ea typeface="+mj-lt"/>
                <a:cs typeface="Arial"/>
              </a:rPr>
              <a:t>System  Approach</a:t>
            </a:r>
            <a:endParaRPr lang="en-US" sz="4400" dirty="0">
              <a:solidFill>
                <a:schemeClr val="accent1"/>
              </a:solidFill>
              <a:latin typeface="Calibri Light"/>
              <a:cs typeface="Calibri Light"/>
            </a:endParaRP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4FFAF3C-BA60-9181-132C-C36C403AAE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4049" y="1920240"/>
            <a:ext cx="11226760" cy="4275188"/>
          </a:xfrm>
        </p:spPr>
        <p:txBody>
          <a:bodyPr>
            <a:normAutofit fontScale="25000" lnSpcReduction="20000"/>
          </a:bodyPr>
          <a:lstStyle/>
          <a:p>
            <a:pPr marL="0" indent="0">
              <a:buNone/>
            </a:pPr>
            <a:r>
              <a:rPr lang="en-IN" sz="8000" b="1" dirty="0"/>
              <a:t>Technology Used:</a:t>
            </a:r>
            <a:endParaRPr lang="en-IN" sz="8000" dirty="0"/>
          </a:p>
          <a:p>
            <a:pPr lvl="0"/>
            <a:r>
              <a:rPr lang="en-IN" sz="5600" b="1" dirty="0"/>
              <a:t>Python</a:t>
            </a:r>
            <a:r>
              <a:rPr lang="en-IN" sz="5600" dirty="0"/>
              <a:t> — Main programming language </a:t>
            </a:r>
          </a:p>
          <a:p>
            <a:pPr lvl="0"/>
            <a:r>
              <a:rPr lang="en-IN" sz="5600" b="1" dirty="0" err="1"/>
              <a:t>Streamlit</a:t>
            </a:r>
            <a:r>
              <a:rPr lang="en-IN" sz="5600" dirty="0"/>
              <a:t> — Used to create the web interface </a:t>
            </a:r>
          </a:p>
          <a:p>
            <a:pPr lvl="0"/>
            <a:r>
              <a:rPr lang="en-IN" sz="5600" b="1" dirty="0"/>
              <a:t>Google Gemini API</a:t>
            </a:r>
            <a:r>
              <a:rPr lang="en-IN" sz="5600" dirty="0"/>
              <a:t> — Used for AI-based flashcard generation </a:t>
            </a:r>
          </a:p>
          <a:p>
            <a:pPr lvl="0"/>
            <a:r>
              <a:rPr lang="en-IN" sz="5600" b="1" dirty="0"/>
              <a:t>Google Generative AI Python Library</a:t>
            </a:r>
            <a:r>
              <a:rPr lang="en-IN" sz="5600" dirty="0"/>
              <a:t> — Used to communicate with Gemini </a:t>
            </a:r>
          </a:p>
          <a:p>
            <a:pPr lvl="0"/>
            <a:r>
              <a:rPr lang="en-IN" sz="5600" b="1" dirty="0"/>
              <a:t>VS Code</a:t>
            </a:r>
            <a:r>
              <a:rPr lang="en-IN" sz="5600" dirty="0"/>
              <a:t> — Development environment </a:t>
            </a:r>
          </a:p>
          <a:p>
            <a:r>
              <a:rPr lang="en-IN" sz="5600" b="1" dirty="0"/>
              <a:t>System Requirements</a:t>
            </a:r>
          </a:p>
          <a:p>
            <a:r>
              <a:rPr lang="en-IN" sz="5600" b="1" dirty="0"/>
              <a:t>Software:</a:t>
            </a:r>
            <a:endParaRPr lang="en-IN" sz="5600" dirty="0"/>
          </a:p>
          <a:p>
            <a:pPr lvl="0"/>
            <a:r>
              <a:rPr lang="en-IN" sz="5600" dirty="0"/>
              <a:t>Python </a:t>
            </a:r>
          </a:p>
          <a:p>
            <a:pPr lvl="0"/>
            <a:r>
              <a:rPr lang="en-IN" sz="5600" dirty="0"/>
              <a:t>VS Code </a:t>
            </a:r>
          </a:p>
          <a:p>
            <a:pPr lvl="0"/>
            <a:r>
              <a:rPr lang="en-IN" sz="5600" dirty="0" err="1"/>
              <a:t>Streamlit</a:t>
            </a:r>
            <a:r>
              <a:rPr lang="en-IN" sz="5600" dirty="0"/>
              <a:t> </a:t>
            </a:r>
          </a:p>
          <a:p>
            <a:pPr lvl="0"/>
            <a:r>
              <a:rPr lang="en-IN" sz="5600" dirty="0"/>
              <a:t>Google Generative AI library </a:t>
            </a:r>
          </a:p>
          <a:p>
            <a:pPr lvl="0"/>
            <a:r>
              <a:rPr lang="en-IN" sz="5600" dirty="0"/>
              <a:t>Internet connection </a:t>
            </a:r>
          </a:p>
          <a:p>
            <a:pPr lvl="0"/>
            <a:r>
              <a:rPr lang="en-IN" sz="5600" dirty="0"/>
              <a:t>Gemini API key </a:t>
            </a:r>
          </a:p>
          <a:p>
            <a:r>
              <a:rPr lang="en-IN" sz="5600" b="1" dirty="0"/>
              <a:t>Input:</a:t>
            </a:r>
            <a:br>
              <a:rPr lang="en-IN" sz="5600" dirty="0"/>
            </a:br>
            <a:r>
              <a:rPr lang="en-IN" sz="5600" dirty="0"/>
              <a:t>User-provided notes or study material.</a:t>
            </a:r>
          </a:p>
          <a:p>
            <a:r>
              <a:rPr lang="en-IN" sz="5600" b="1" dirty="0"/>
              <a:t>Output:</a:t>
            </a:r>
            <a:br>
              <a:rPr lang="en-IN" sz="5600" dirty="0"/>
            </a:br>
            <a:r>
              <a:rPr lang="en-IN" sz="5600" dirty="0"/>
              <a:t>AI-generated questions and answers in flashcard format.</a:t>
            </a:r>
          </a:p>
          <a:p>
            <a:pPr marL="0" indent="0">
              <a:buNone/>
            </a:pPr>
            <a:endParaRPr lang="en-IN" sz="1800" b="1" dirty="0">
              <a:solidFill>
                <a:srgbClr val="0F0F0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0202452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8FBA75B4-2DD5-42EB-9397-F36BFB8BA7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2" y="519276"/>
            <a:ext cx="11029616" cy="530296"/>
          </a:xfrm>
        </p:spPr>
        <p:txBody>
          <a:bodyPr>
            <a:noAutofit/>
          </a:bodyPr>
          <a:lstStyle/>
          <a:p>
            <a:r>
              <a:rPr lang="en-US" sz="3200" b="1" dirty="0">
                <a:solidFill>
                  <a:schemeClr val="accent1"/>
                </a:solidFill>
                <a:latin typeface="Arial"/>
                <a:ea typeface="+mj-lt"/>
                <a:cs typeface="Arial"/>
              </a:rPr>
              <a:t>Algorithm &amp; Deployment</a:t>
            </a:r>
            <a:endParaRPr lang="en-US" sz="3200" dirty="0"/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7F0871F-2198-9E37-C96F-3611AA199B6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720" y="1583104"/>
            <a:ext cx="11029615" cy="4673324"/>
          </a:xfrm>
        </p:spPr>
        <p:txBody>
          <a:bodyPr>
            <a:normAutofit fontScale="25000" lnSpcReduction="20000"/>
          </a:bodyPr>
          <a:lstStyle/>
          <a:p>
            <a:pPr lvl="0"/>
            <a:r>
              <a:rPr lang="en-IN" sz="8000" b="1" dirty="0"/>
              <a:t>User Input:</a:t>
            </a:r>
            <a:br>
              <a:rPr lang="en-IN" sz="8000" dirty="0"/>
            </a:br>
            <a:r>
              <a:rPr lang="en-IN" sz="8000" dirty="0"/>
              <a:t>The user enters notes or study material into the </a:t>
            </a:r>
            <a:r>
              <a:rPr lang="en-IN" sz="8000" dirty="0" err="1"/>
              <a:t>Streamlit</a:t>
            </a:r>
            <a:r>
              <a:rPr lang="en-IN" sz="8000" dirty="0"/>
              <a:t> text area. </a:t>
            </a:r>
          </a:p>
          <a:p>
            <a:pPr lvl="0"/>
            <a:r>
              <a:rPr lang="en-IN" sz="8000" b="1" dirty="0"/>
              <a:t>Prompt Generation:</a:t>
            </a:r>
            <a:br>
              <a:rPr lang="en-IN" sz="8000" dirty="0"/>
            </a:br>
            <a:r>
              <a:rPr lang="en-IN" sz="8000" dirty="0"/>
              <a:t>Python takes the entered notes and creates a structured prompt asking Gemini to generate 5 flashcards with questions and answers. </a:t>
            </a:r>
          </a:p>
          <a:p>
            <a:pPr lvl="0"/>
            <a:r>
              <a:rPr lang="en-IN" sz="8000" b="1" dirty="0"/>
              <a:t>AI Generation:</a:t>
            </a:r>
            <a:br>
              <a:rPr lang="en-IN" sz="8000" dirty="0"/>
            </a:br>
            <a:r>
              <a:rPr lang="en-IN" sz="8000" dirty="0"/>
              <a:t>The prompt is sent to the </a:t>
            </a:r>
            <a:r>
              <a:rPr lang="en-IN" sz="8000" b="1" dirty="0"/>
              <a:t>Google Gemini model</a:t>
            </a:r>
            <a:r>
              <a:rPr lang="en-IN" sz="8000" dirty="0"/>
              <a:t> through the Generative AI API. </a:t>
            </a:r>
          </a:p>
          <a:p>
            <a:pPr lvl="0"/>
            <a:r>
              <a:rPr lang="en-IN" sz="8000" b="1" dirty="0"/>
              <a:t>Response Processing:</a:t>
            </a:r>
            <a:br>
              <a:rPr lang="en-IN" sz="8000" dirty="0"/>
            </a:br>
            <a:r>
              <a:rPr lang="en-IN" sz="8000" dirty="0"/>
              <a:t>Gemini generates the flashcards, and Python receives the generated response. </a:t>
            </a:r>
          </a:p>
          <a:p>
            <a:pPr lvl="0"/>
            <a:r>
              <a:rPr lang="en-IN" sz="8000" b="1" dirty="0"/>
              <a:t>Output Display:</a:t>
            </a:r>
            <a:br>
              <a:rPr lang="en-IN" sz="8000" dirty="0"/>
            </a:br>
            <a:r>
              <a:rPr lang="en-IN" sz="8000" dirty="0" err="1"/>
              <a:t>Streamlit</a:t>
            </a:r>
            <a:r>
              <a:rPr lang="en-IN" sz="8000" dirty="0"/>
              <a:t> displays the generated questions and answers on the user interface. </a:t>
            </a:r>
          </a:p>
          <a:p>
            <a:r>
              <a:rPr lang="en-IN" sz="8000" b="1" dirty="0"/>
              <a:t>▪ Deployment:</a:t>
            </a:r>
            <a:endParaRPr lang="en-IN" sz="8000" dirty="0"/>
          </a:p>
          <a:p>
            <a:pPr lvl="0"/>
            <a:r>
              <a:rPr lang="en-IN" sz="8000" dirty="0"/>
              <a:t>The application is developed using </a:t>
            </a:r>
            <a:r>
              <a:rPr lang="en-IN" sz="8000" b="1" dirty="0"/>
              <a:t>Python and </a:t>
            </a:r>
            <a:r>
              <a:rPr lang="en-IN" sz="8000" b="1" dirty="0" err="1"/>
              <a:t>Streamlit</a:t>
            </a:r>
            <a:r>
              <a:rPr lang="en-IN" sz="8000" dirty="0"/>
              <a:t>. </a:t>
            </a:r>
          </a:p>
          <a:p>
            <a:pPr lvl="0"/>
            <a:r>
              <a:rPr lang="en-IN" sz="8000" dirty="0"/>
              <a:t>It runs locally through </a:t>
            </a:r>
            <a:r>
              <a:rPr lang="en-IN" sz="8000" b="1" dirty="0"/>
              <a:t>localhost:8501</a:t>
            </a:r>
            <a:r>
              <a:rPr lang="en-IN" sz="8000" dirty="0"/>
              <a:t> during development. </a:t>
            </a:r>
          </a:p>
          <a:p>
            <a:pPr lvl="0"/>
            <a:r>
              <a:rPr lang="en-IN" sz="8000" dirty="0"/>
              <a:t>The application can be deployed using </a:t>
            </a:r>
            <a:r>
              <a:rPr lang="en-IN" sz="8000" b="1" dirty="0" err="1"/>
              <a:t>Streamlit</a:t>
            </a:r>
            <a:r>
              <a:rPr lang="en-IN" sz="8000" b="1" dirty="0"/>
              <a:t> Community Cloud</a:t>
            </a:r>
            <a:r>
              <a:rPr lang="en-IN" sz="8000" dirty="0"/>
              <a:t> to create a shareable web link. </a:t>
            </a:r>
          </a:p>
          <a:p>
            <a:pPr marL="0" indent="0">
              <a:buNone/>
            </a:pPr>
            <a:r>
              <a:rPr lang="en-IN" sz="8000" b="1" u="sng" dirty="0"/>
              <a:t>User Input → </a:t>
            </a:r>
            <a:r>
              <a:rPr lang="en-IN" sz="8000" b="1" u="sng" dirty="0" err="1"/>
              <a:t>Streamlit</a:t>
            </a:r>
            <a:r>
              <a:rPr lang="en-IN" sz="8000" b="1" u="sng" dirty="0"/>
              <a:t> → Python Prompt → Gemini AI → Python Response → </a:t>
            </a:r>
            <a:r>
              <a:rPr lang="en-IN" sz="8000" b="1" u="sng" dirty="0" err="1"/>
              <a:t>Streamlit</a:t>
            </a:r>
            <a:r>
              <a:rPr lang="en-IN" sz="8000" b="1" u="sng" dirty="0"/>
              <a:t> Output</a:t>
            </a:r>
          </a:p>
          <a:p>
            <a:pPr marL="0" indent="0">
              <a:buNone/>
            </a:pPr>
            <a:br>
              <a:rPr lang="en-IN" dirty="0"/>
            </a:br>
            <a:endParaRPr lang="en-IN" dirty="0"/>
          </a:p>
          <a:p>
            <a:pPr marL="305435" indent="-305435"/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15450877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8FBA75B4-2DD5-42EB-9397-F36BFB8BA7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sz="4400" b="1">
                <a:solidFill>
                  <a:schemeClr val="accent1"/>
                </a:solidFill>
                <a:latin typeface="Arial"/>
                <a:ea typeface="+mj-lt"/>
                <a:cs typeface="Arial"/>
              </a:rPr>
              <a:t>Result</a:t>
            </a:r>
            <a:endParaRPr lang="en-US"/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3304455-6802-6CA9-8475-2F6DD1B8D4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75450" y="1495620"/>
            <a:ext cx="11029615" cy="4673324"/>
          </a:xfrm>
        </p:spPr>
        <p:txBody>
          <a:bodyPr>
            <a:normAutofit/>
          </a:bodyPr>
          <a:lstStyle/>
          <a:p>
            <a:r>
              <a:rPr lang="en-IN" sz="1400" b="1" dirty="0"/>
              <a:t>Accepts study material from the user. </a:t>
            </a:r>
          </a:p>
          <a:p>
            <a:r>
              <a:rPr lang="en-IN" sz="1400" b="1" dirty="0"/>
              <a:t>Sends the information to the Gemini model through a structured prompt</a:t>
            </a:r>
          </a:p>
          <a:p>
            <a:pPr lvl="0"/>
            <a:r>
              <a:rPr lang="en-IN" sz="1400" b="1" dirty="0"/>
              <a:t>Generates five question-and-answer flashcards. </a:t>
            </a:r>
          </a:p>
          <a:p>
            <a:pPr lvl="0"/>
            <a:r>
              <a:rPr lang="en-IN" sz="1400" b="1" dirty="0"/>
              <a:t>Displays the generated flashcards through the </a:t>
            </a:r>
            <a:r>
              <a:rPr lang="en-IN" sz="1400" b="1" dirty="0" err="1"/>
              <a:t>Streamlit</a:t>
            </a:r>
            <a:r>
              <a:rPr lang="en-IN" sz="1400" b="1" dirty="0"/>
              <a:t> interface. </a:t>
            </a:r>
          </a:p>
          <a:p>
            <a:pPr lvl="0"/>
            <a:r>
              <a:rPr lang="en-IN" sz="1400" b="1" dirty="0"/>
              <a:t>Allows users to generate flashcards for different topics.</a:t>
            </a:r>
          </a:p>
          <a:p>
            <a:pPr marL="0" indent="0">
              <a:buNone/>
            </a:pPr>
            <a:endParaRPr lang="en-IN" sz="24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20195CB-07BD-D2E6-00C9-AAF5B99678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45192" y="2039013"/>
            <a:ext cx="6446808" cy="4268021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3C69113F-8286-5708-80BE-C8C2DEB3C3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45192" y="550965"/>
            <a:ext cx="6446808" cy="28780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329338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8FBA75B4-2DD5-42EB-9397-F36BFB8BA7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sz="4400" b="1">
                <a:solidFill>
                  <a:schemeClr val="accent1"/>
                </a:solidFill>
                <a:latin typeface="Arial"/>
                <a:ea typeface="+mj-lt"/>
                <a:cs typeface="Arial"/>
              </a:rPr>
              <a:t>Conclusion</a:t>
            </a:r>
            <a:endParaRPr lang="en-US"/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05E46AB-32C4-4B57-A2B1-50738A64BE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1482520"/>
            <a:ext cx="11029615" cy="4673324"/>
          </a:xfrm>
        </p:spPr>
        <p:txBody>
          <a:bodyPr>
            <a:normAutofit/>
          </a:bodyPr>
          <a:lstStyle/>
          <a:p>
            <a:r>
              <a:rPr lang="en-IN" sz="2000" dirty="0"/>
              <a:t>The AI Flash Card Generator provides a simple way to convert study material into question-and-answer flashcards using Generative AI. The project combines Python, </a:t>
            </a:r>
            <a:r>
              <a:rPr lang="en-IN" sz="2000" dirty="0" err="1"/>
              <a:t>Streamlit</a:t>
            </a:r>
            <a:r>
              <a:rPr lang="en-IN" sz="2000" dirty="0"/>
              <a:t>, and Google Gemini to create an interactive learning tool.</a:t>
            </a:r>
          </a:p>
          <a:p>
            <a:r>
              <a:rPr lang="en-IN" sz="2000" dirty="0"/>
              <a:t>It reduces the effort required to manually prepare flashcards and can help students with quick revision of different topics.</a:t>
            </a:r>
          </a:p>
          <a:p>
            <a:r>
              <a:rPr lang="en-IN" sz="2000" b="1" dirty="0"/>
              <a:t>Challenges:</a:t>
            </a:r>
            <a:br>
              <a:rPr lang="en-IN" sz="2000" dirty="0"/>
            </a:br>
            <a:r>
              <a:rPr lang="en-IN" sz="2000" dirty="0"/>
              <a:t>The system depends on internet connectivity and access to the Gemini API for generating responses.</a:t>
            </a:r>
          </a:p>
          <a:p>
            <a:pPr marL="305435" indent="-305435"/>
            <a:endParaRPr lang="en-IN" sz="2000" dirty="0">
              <a:solidFill>
                <a:srgbClr val="404040"/>
              </a:solidFill>
              <a:ea typeface="+mn-lt"/>
              <a:cs typeface="+mn-lt"/>
            </a:endParaRPr>
          </a:p>
          <a:p>
            <a:pPr marL="305435" indent="-305435"/>
            <a:endParaRPr lang="en-IN" sz="2000" dirty="0">
              <a:solidFill>
                <a:srgbClr val="0F0F0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8331512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638FD1-D00E-E75B-705C-564F06D93D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1374955"/>
            <a:ext cx="11029615" cy="4673324"/>
          </a:xfrm>
        </p:spPr>
        <p:txBody>
          <a:bodyPr/>
          <a:lstStyle/>
          <a:p>
            <a:pPr marL="0" indent="0">
              <a:buNone/>
            </a:pPr>
            <a:r>
              <a:rPr lang="en-IN" dirty="0"/>
              <a:t>The project can be further improved by adding:</a:t>
            </a:r>
          </a:p>
          <a:p>
            <a:pPr lvl="0"/>
            <a:r>
              <a:rPr lang="en-IN" b="1" dirty="0"/>
              <a:t>Custom number of flashcards</a:t>
            </a:r>
            <a:r>
              <a:rPr lang="en-IN" dirty="0"/>
              <a:t> — Allow users to choose 5, 10, 20, etc. </a:t>
            </a:r>
          </a:p>
          <a:p>
            <a:pPr lvl="0"/>
            <a:r>
              <a:rPr lang="en-IN" b="1" dirty="0"/>
              <a:t>Difficulty levels</a:t>
            </a:r>
            <a:r>
              <a:rPr lang="en-IN" dirty="0"/>
              <a:t> — Easy, Medium and Hard questions. </a:t>
            </a:r>
          </a:p>
          <a:p>
            <a:pPr lvl="0"/>
            <a:r>
              <a:rPr lang="en-IN" b="1" dirty="0"/>
              <a:t>Multiple input formats</a:t>
            </a:r>
            <a:r>
              <a:rPr lang="en-IN" dirty="0"/>
              <a:t> — PDF, DOCX and images. </a:t>
            </a:r>
          </a:p>
          <a:p>
            <a:pPr lvl="0"/>
            <a:r>
              <a:rPr lang="en-IN" b="1" dirty="0"/>
              <a:t>Subject selection</a:t>
            </a:r>
            <a:r>
              <a:rPr lang="en-IN" dirty="0"/>
              <a:t> — Science, Mathematics, History, etc. </a:t>
            </a:r>
          </a:p>
          <a:p>
            <a:pPr lvl="0"/>
            <a:r>
              <a:rPr lang="en-IN" b="1" dirty="0"/>
              <a:t>Save flashcards</a:t>
            </a:r>
            <a:r>
              <a:rPr lang="en-IN" dirty="0"/>
              <a:t> — Allow users to save generated flashcards. </a:t>
            </a:r>
          </a:p>
          <a:p>
            <a:pPr lvl="0"/>
            <a:r>
              <a:rPr lang="en-IN" b="1" dirty="0"/>
              <a:t>Quiz mode</a:t>
            </a:r>
            <a:r>
              <a:rPr lang="en-IN" dirty="0"/>
              <a:t> — Convert flashcards into interactive quizzes. </a:t>
            </a:r>
          </a:p>
          <a:p>
            <a:pPr lvl="0"/>
            <a:r>
              <a:rPr lang="en-IN" b="1" dirty="0"/>
              <a:t>Multiple languages</a:t>
            </a:r>
            <a:r>
              <a:rPr lang="en-IN" dirty="0"/>
              <a:t> — Generate flashcards in different languages. </a:t>
            </a:r>
          </a:p>
          <a:p>
            <a:pPr lvl="0"/>
            <a:r>
              <a:rPr lang="en-IN" b="1" dirty="0"/>
              <a:t>Online deployment</a:t>
            </a:r>
            <a:r>
              <a:rPr lang="en-IN" dirty="0"/>
              <a:t> — Make the application accessible through a public web link.</a:t>
            </a:r>
          </a:p>
          <a:p>
            <a:pPr marL="305435" indent="-305435"/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3F968F13-9AC4-7120-7ACD-9F752C767D5D}"/>
              </a:ext>
            </a:extLst>
          </p:cNvPr>
          <p:cNvSpPr txBox="1">
            <a:spLocks/>
          </p:cNvSpPr>
          <p:nvPr/>
        </p:nvSpPr>
        <p:spPr>
          <a:xfrm>
            <a:off x="535670" y="844659"/>
            <a:ext cx="11029616" cy="530296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75000" lnSpcReduction="20000"/>
          </a:bodyPr>
          <a:lstStyle>
            <a:lvl1pPr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2800" b="0" kern="1200" cap="all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sz="4400" b="1">
                <a:solidFill>
                  <a:schemeClr val="accent1"/>
                </a:solidFill>
                <a:latin typeface="Arial"/>
                <a:cs typeface="Arial"/>
              </a:rPr>
              <a:t>Future scope</a:t>
            </a:r>
          </a:p>
        </p:txBody>
      </p:sp>
    </p:spTree>
    <p:extLst>
      <p:ext uri="{BB962C8B-B14F-4D97-AF65-F5344CB8AC3E}">
        <p14:creationId xmlns:p14="http://schemas.microsoft.com/office/powerpoint/2010/main" val="61488268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8FBA75B4-2DD5-42EB-9397-F36BFB8BA7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sz="4400" b="1">
                <a:solidFill>
                  <a:schemeClr val="accent1"/>
                </a:solidFill>
                <a:latin typeface="Arial"/>
                <a:ea typeface="+mj-lt"/>
                <a:cs typeface="Arial"/>
              </a:rPr>
              <a:t>References</a:t>
            </a:r>
            <a:endParaRPr lang="en-US"/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57C38BC-22B3-37B2-E0C3-812020A760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 lang="en-IN" sz="2400" dirty="0"/>
              <a:t>Google Gemini API Documentation </a:t>
            </a:r>
          </a:p>
          <a:p>
            <a:pPr lvl="0"/>
            <a:r>
              <a:rPr lang="en-IN" sz="2400" dirty="0" err="1"/>
              <a:t>Streamlit</a:t>
            </a:r>
            <a:r>
              <a:rPr lang="en-IN" sz="2400" dirty="0"/>
              <a:t> Documentation </a:t>
            </a:r>
          </a:p>
          <a:p>
            <a:pPr lvl="0"/>
            <a:r>
              <a:rPr lang="en-IN" sz="2400" dirty="0"/>
              <a:t>Python Documentation </a:t>
            </a:r>
          </a:p>
          <a:p>
            <a:pPr lvl="0"/>
            <a:r>
              <a:rPr lang="en-IN" sz="2400" dirty="0"/>
              <a:t>Google Generative AI Python Library Documentation</a:t>
            </a:r>
          </a:p>
          <a:p>
            <a:pPr marL="305435" indent="-305435"/>
            <a:r>
              <a:rPr lang="en-IN" sz="2400" dirty="0">
                <a:solidFill>
                  <a:schemeClr val="tx1">
                    <a:lumMod val="85000"/>
                    <a:lumOff val="15000"/>
                  </a:schemeClr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</a:t>
            </a:r>
            <a:endParaRPr lang="en-IN" sz="2400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pPr marL="305435" indent="-305435"/>
            <a:r>
              <a:rPr lang="en-IN" sz="2400" dirty="0">
                <a:solidFill>
                  <a:schemeClr val="tx1">
                    <a:lumMod val="85000"/>
                    <a:lumOff val="15000"/>
                  </a:schemeClr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The Python Standard Library — Python 3.14.3 documentation</a:t>
            </a:r>
            <a:endParaRPr lang="en-IN" sz="2400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2895022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4D7422-ED9D-D856-C6AD-0F1A715C24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/>
              <a:t>Deployment link / </a:t>
            </a:r>
            <a:r>
              <a:rPr lang="en-IN" err="1"/>
              <a:t>github</a:t>
            </a:r>
            <a:r>
              <a:rPr lang="en-IN"/>
              <a:t> link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8C47C2-EF01-12B0-99EA-861F9629D1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05435" indent="-305435"/>
            <a:r>
              <a:rPr lang="en-IN" dirty="0" err="1"/>
              <a:t>Github</a:t>
            </a:r>
            <a:r>
              <a:rPr lang="en-IN" dirty="0"/>
              <a:t> </a:t>
            </a:r>
            <a:r>
              <a:rPr lang="en-IN"/>
              <a:t>Link: </a:t>
            </a:r>
            <a:r>
              <a:rPr lang="en-IN">
                <a:hlinkClick r:id="rId2"/>
              </a:rPr>
              <a:t>https://github.com/deepanshiagarwal580/AI-Flash-Card-Generator.git</a:t>
            </a:r>
            <a:r>
              <a:rPr lang="en-IN"/>
              <a:t> </a:t>
            </a:r>
            <a:endParaRPr lang="en-US" dirty="0"/>
          </a:p>
          <a:p>
            <a:pPr marL="305435" indent="-305435"/>
            <a:r>
              <a:rPr lang="en-IN" dirty="0"/>
              <a:t>Deployment: </a:t>
            </a:r>
            <a:r>
              <a:rPr lang="en-IN" dirty="0">
                <a:hlinkClick r:id="rId3"/>
              </a:rPr>
              <a:t>https://ai-flash-card-generator-lhtjv4ubq7cah8mrv4yqlj.streamlit.app</a:t>
            </a:r>
            <a:r>
              <a:rPr lang="en-IN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5885291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8BE4CA82-64EC-4D4E-A5E5-3EBB66E7B2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63041" y="2766218"/>
            <a:ext cx="9298744" cy="1325563"/>
          </a:xfrm>
        </p:spPr>
        <p:txBody>
          <a:bodyPr/>
          <a:lstStyle/>
          <a:p>
            <a:pPr algn="ctr"/>
            <a:r>
              <a:rPr lang="en-US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THANK YOU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665445E-38E9-E70A-5DB3-F32FDF7F0006}"/>
              </a:ext>
            </a:extLst>
          </p:cNvPr>
          <p:cNvSpPr txBox="1"/>
          <p:nvPr/>
        </p:nvSpPr>
        <p:spPr>
          <a:xfrm>
            <a:off x="9579966" y="5529533"/>
            <a:ext cx="236363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dirty="0"/>
              <a:t>Presented by~</a:t>
            </a:r>
          </a:p>
          <a:p>
            <a:r>
              <a:rPr lang="en-US" b="1" i="1" dirty="0"/>
              <a:t>Deepanshi Agarwal</a:t>
            </a:r>
            <a:endParaRPr lang="en-IN" b="1" i="1" dirty="0"/>
          </a:p>
        </p:txBody>
      </p:sp>
    </p:spTree>
    <p:extLst>
      <p:ext uri="{BB962C8B-B14F-4D97-AF65-F5344CB8AC3E}">
        <p14:creationId xmlns:p14="http://schemas.microsoft.com/office/powerpoint/2010/main" val="4066255318"/>
      </p:ext>
    </p:extLst>
  </p:cSld>
  <p:clrMapOvr>
    <a:masterClrMapping/>
  </p:clrMapOvr>
</p:sld>
</file>

<file path=ppt/theme/theme1.xml><?xml version="1.0" encoding="utf-8"?>
<a:theme xmlns:a="http://schemas.openxmlformats.org/drawingml/2006/main" name="DividendVTI">
  <a:themeElements>
    <a:clrScheme name="Blue II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Dividend">
      <a:majorFont>
        <a:latin typeface="Franklin Gothic Demi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Franklin Gothic Book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ividendVTI" id="{97558BDE-0B66-457C-BB6F-7B1B22DAA9B8}" vid="{F53508A3-AC60-448A-AF37-934D5F1A0D5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0F1872188ABCFC48BECA6C87E8AC3285" ma:contentTypeVersion="17" ma:contentTypeDescription="Create a new document." ma:contentTypeScope="" ma:versionID="55a158675e089c6a85ab0f83b89e1a15">
  <xsd:schema xmlns:xsd="http://www.w3.org/2001/XMLSchema" xmlns:xs="http://www.w3.org/2001/XMLSchema" xmlns:p="http://schemas.microsoft.com/office/2006/metadata/properties" xmlns:ns3="9162bd5b-4ed9-4da3-b376-05204580ba3f" xmlns:ns4="c0fa2617-96bd-425d-8578-e93563fe37c5" targetNamespace="http://schemas.microsoft.com/office/2006/metadata/properties" ma:root="true" ma:fieldsID="b35f082308864fa161c4a0a9eca35eff" ns3:_="" ns4:_="">
    <xsd:import namespace="9162bd5b-4ed9-4da3-b376-05204580ba3f"/>
    <xsd:import namespace="c0fa2617-96bd-425d-8578-e93563fe37c5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Auto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ServiceAutoKeyPoints" minOccurs="0"/>
                <xsd:element ref="ns3:MediaServiceKeyPoints" minOccurs="0"/>
                <xsd:element ref="ns3:MediaServiceDateTaken" minOccurs="0"/>
                <xsd:element ref="ns3:MediaLengthInSeconds" minOccurs="0"/>
                <xsd:element ref="ns3:MediaServiceLocation" minOccurs="0"/>
                <xsd:element ref="ns3:_activity" minOccurs="0"/>
                <xsd:element ref="ns3:MediaServiceObjectDetectorVersions" minOccurs="0"/>
                <xsd:element ref="ns3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162bd5b-4ed9-4da3-b376-05204580ba3f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3" nillable="true" ma:displayName="Tags" ma:internalName="MediaServiceAutoTags" ma:readOnly="true">
      <xsd:simpleType>
        <xsd:restriction base="dms:Text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AutoKeyPoints" ma:index="17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8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DateTaken" ma:index="19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20" nillable="true" ma:displayName="Length (seconds)" ma:internalName="MediaLengthInSeconds" ma:readOnly="true">
      <xsd:simpleType>
        <xsd:restriction base="dms:Unknown"/>
      </xsd:simpleType>
    </xsd:element>
    <xsd:element name="MediaServiceLocation" ma:index="21" nillable="true" ma:displayName="Location" ma:internalName="MediaServiceLocation" ma:readOnly="true">
      <xsd:simpleType>
        <xsd:restriction base="dms:Text"/>
      </xsd:simpleType>
    </xsd:element>
    <xsd:element name="_activity" ma:index="22" nillable="true" ma:displayName="_activity" ma:hidden="true" ma:internalName="_activity">
      <xsd:simpleType>
        <xsd:restriction base="dms:Note"/>
      </xsd:simpleType>
    </xsd:element>
    <xsd:element name="MediaServiceObjectDetectorVersions" ma:index="23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24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0fa2617-96bd-425d-8578-e93563fe37c5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2" nillable="true" ma:displayName="Sharing Hint Hash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MediaServiceKeyPoints xmlns="9162bd5b-4ed9-4da3-b376-05204580ba3f" xsi:nil="true"/>
    <_activity xmlns="9162bd5b-4ed9-4da3-b376-05204580ba3f" xsi:nil="true"/>
  </documentManagement>
</p:properties>
</file>

<file path=customXml/itemProps1.xml><?xml version="1.0" encoding="utf-8"?>
<ds:datastoreItem xmlns:ds="http://schemas.openxmlformats.org/officeDocument/2006/customXml" ds:itemID="{6E816721-11E4-4989-8472-AB5A7EC20404}">
  <ds:schemaRefs>
    <ds:schemaRef ds:uri="9162bd5b-4ed9-4da3-b376-05204580ba3f"/>
    <ds:schemaRef ds:uri="c0fa2617-96bd-425d-8578-e93563fe37c5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927BD4C1-B6B1-4715-ABF9-E660A51A4EA0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8D289AE2-D2AE-49D1-AFAC-3A79F6794255}">
  <ds:schemaRefs>
    <ds:schemaRef ds:uri="http://www.w3.org/XML/1998/namespace"/>
    <ds:schemaRef ds:uri="http://schemas.openxmlformats.org/package/2006/metadata/core-properties"/>
    <ds:schemaRef ds:uri="c0fa2617-96bd-425d-8578-e93563fe37c5"/>
    <ds:schemaRef ds:uri="http://purl.org/dc/terms/"/>
    <ds:schemaRef ds:uri="http://purl.org/dc/elements/1.1/"/>
    <ds:schemaRef ds:uri="9162bd5b-4ed9-4da3-b376-05204580ba3f"/>
    <ds:schemaRef ds:uri="http://schemas.microsoft.com/office/2006/documentManagement/types"/>
    <ds:schemaRef ds:uri="http://schemas.microsoft.com/office/infopath/2007/PartnerControls"/>
    <ds:schemaRef ds:uri="http://schemas.microsoft.com/office/2006/metadata/properties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Future forward</Template>
  <TotalTime>76</TotalTime>
  <Words>759</Words>
  <Application>Microsoft Office PowerPoint</Application>
  <PresentationFormat>Widescreen</PresentationFormat>
  <Paragraphs>90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9" baseType="lpstr">
      <vt:lpstr>Arial</vt:lpstr>
      <vt:lpstr>Calibri</vt:lpstr>
      <vt:lpstr>Calibri Light</vt:lpstr>
      <vt:lpstr>Franklin Gothic Book</vt:lpstr>
      <vt:lpstr>Franklin Gothic Demi</vt:lpstr>
      <vt:lpstr>Wingdings 2</vt:lpstr>
      <vt:lpstr>DividendVTI</vt:lpstr>
      <vt:lpstr>FLASHFORGE AI~ An Intelligent Generative AI-Powered Flashcard Generator</vt:lpstr>
      <vt:lpstr>OUTLINE</vt:lpstr>
      <vt:lpstr>Problem Statement</vt:lpstr>
      <vt:lpstr>Proposed Solution</vt:lpstr>
      <vt:lpstr>System  Approach</vt:lpstr>
      <vt:lpstr>Algorithm &amp; Deployment</vt:lpstr>
      <vt:lpstr>Result</vt:lpstr>
      <vt:lpstr>Conclusion</vt:lpstr>
      <vt:lpstr>PowerPoint Presentation</vt:lpstr>
      <vt:lpstr>References</vt:lpstr>
      <vt:lpstr>Deployment link / github link</vt:lpstr>
      <vt:lpstr>THANK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SkillsBuild Partner Update template</dc:title>
  <dc:creator>Vaibhav Ostwal</dc:creator>
  <cp:lastModifiedBy>Deepanshi Agarwal</cp:lastModifiedBy>
  <cp:revision>5</cp:revision>
  <dcterms:created xsi:type="dcterms:W3CDTF">2021-05-26T16:50:10Z</dcterms:created>
  <dcterms:modified xsi:type="dcterms:W3CDTF">2026-09-03T09:49:23Z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0x0101000F1872188ABCFC48BECA6C87E8AC3285</vt:lpwstr>
  </property>
</Properties>
</file>